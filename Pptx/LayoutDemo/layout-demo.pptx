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101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viewProps" Target="/ppt/viewProps.xml" Id="rId3" /><Relationship Type="http://schemas.openxmlformats.org/officeDocument/2006/relationships/presProps" Target="/ppt/presProps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5" /><Relationship Type="http://schemas.openxmlformats.org/officeDocument/2006/relationships/theme" Target="/ppt/theme/theme1.xml" Id="rId4" /><Relationship Type="http://schemas.openxmlformats.org/officeDocument/2006/relationships/slide" Target="/ppt/slides/slide1.xml" Id="rId6" /><Relationship Type="http://schemas.openxmlformats.org/officeDocument/2006/relationships/slide" Target="/ppt/slides/slide2.xml" Id="rId7" /><Relationship Type="http://schemas.openxmlformats.org/officeDocument/2006/relationships/slide" Target="/ppt/slides/slide3.xml" Id="rId8" /><Relationship Type="http://schemas.openxmlformats.org/officeDocument/2006/relationships/slide" Target="/ppt/slides/slide4.xml" Id="rId9" /><Relationship Type="http://schemas.openxmlformats.org/officeDocument/2006/relationships/slide" Target="/ppt/slides/slide5.xml" Id="rId10" /><Relationship Type="http://schemas.openxmlformats.org/officeDocument/2006/relationships/slide" Target="/ppt/slides/slide6.xml" Id="rId11" /><Relationship Type="http://schemas.openxmlformats.org/officeDocument/2006/relationships/slide" Target="/ppt/slides/slide7.xml" Id="rId12" /><Relationship Type="http://schemas.openxmlformats.org/officeDocument/2006/relationships/slide" Target="/ppt/slides/slide8.xml" Id="rId13" /><Relationship Type="http://schemas.openxmlformats.org/officeDocument/2006/relationships/slide" Target="/ppt/slides/slide9.xml" Id="rId14" /><Relationship Type="http://schemas.openxmlformats.org/officeDocument/2006/relationships/slide" Target="/ppt/slides/slide10.xml" Id="rId15" /><Relationship Type="http://schemas.openxmlformats.org/officeDocument/2006/relationships/slide" Target="/ppt/slides/slide11.xml" Id="rId16" /><Relationship Type="http://schemas.openxmlformats.org/officeDocument/2006/relationships/slide" Target="/ppt/slides/slide12.xml" Id="rId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Notes Placeholder 2"/>
          <p:cNvSpPr>
            <a:spLocks xmlns:a="http://schemas.openxmlformats.org/drawingml/2006/main" noGrp="1"/>
          </p:cNvSpPr>
          <p:nvPr>
            <p:ph type="body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/>
            <a:r>
              <a:rPr/>
              <a:t>PptxCore v2.0 — all features verified</a:t>
            </a:r>
            <a:endParaRPr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9435A-55E9-8F45-6B58-154BCE0E87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D9D54-B0FD-D8F1-5AED-BE0314816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CF1CA-E295-9092-D96C-12B152A26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B803B-F6D5-EBBB-339F-B0EE74988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6EA5D-DD50-5B0F-2908-056C9C79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147D3-7CAF-E778-127C-EB36EE019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C2F3-E578-B9AA-C6E9-B0A937EC0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419A6-9272-0369-CA69-38A16213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F883D-E45F-8FD1-1C08-CBC168F62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75E8-ADB4-1A15-B148-021562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D8AE3-0B7F-0F6C-4161-246DB836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EF875-DCDA-F2BD-42B8-C1F4FC4DB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DC1CB-7833-83F0-DE2F-30938632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E56F-F138-523E-9263-AF7EF65F3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F7168-660A-BFC1-02D4-C3309439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4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CE6F-B83F-D954-0F90-70679C8D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0B51D-0CF0-92B7-F6D3-C393B43110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7F6AF-5C3A-21C7-55A8-08543AD24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87AB9-B373-53AD-E2E0-2F397315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ED33D-3DD9-4B35-7026-C858E4C7E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B328C9-8311-F019-3DCC-ED2B51447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29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5146D-60B2-24B9-728D-604EB717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D396-51F7-49AB-3F99-B8270BD44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AE1936-B0A4-38E1-34E5-9608DBAF7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D63416-005B-0785-25D5-11598D0A22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66390-113D-C0AA-498D-C06AAFACA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DD544-6E41-A9B2-F48B-9488D9AD9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D1115-A07E-F5FE-4179-DE6AAA097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DC1AC-4A0D-C74A-ED55-8BCBE8A61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6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C768-6826-AAD0-0395-E5F0DC0E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8782D-E635-1CDC-B504-7A8C1D253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E2719-64CE-837D-5896-60BAA0AA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FBCE37-B62A-19D9-CCA9-F795E8BCC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56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BC0F13-6A7B-BE98-9301-A6933B7A4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127AEF-634A-5927-F71A-B4BDF7A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DE9C9-AFF4-F7BB-B26A-1735CA412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81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66F78-4764-A0EF-0ABB-8825EEE5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D6607-296B-16B1-A7B5-BF8C3A5D6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4EFEB-4F1D-EFAD-7BBB-1D5BA9893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37C2D-1E88-8148-EBC2-4D4E6AAE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43B8CF-2AE1-4D3C-96CE-0ED0DC421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EC844-DDC6-5532-CE15-23547D42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95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569D-018A-1F56-4F95-61D35E24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157E67-1458-FE53-E579-B0D70DA1ED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16883-BF87-53E6-BA9E-896F51A84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D87C0-A5FB-7F91-AB04-614FB4EB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D186C-44F9-0ACB-9952-89EBE7CA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DDEC-B32E-EE2E-392A-B955A0B7D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F38D4-802D-9DE8-F7C1-E58C0EF6D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4919A-F9BC-89EA-1B14-3AA84A1397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1C79-B3F1-FC81-D523-4328D481B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E8E5F-375B-200E-FA6C-EC2BF7CE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DF49-6CAC-5060-029D-5E74D80D9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00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BE04BC-C8D1-311C-73D9-DB39B45B9B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820DD-03AF-F102-1ED0-097BF19B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3B428-4D1F-8E65-F47E-3B4940A03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ADFDB-290E-6A46-A0D5-AB6DE1E0C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FEBDC-38DC-4FB0-1370-1C24D47D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747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11.xml" Id="rId11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9.xml" Id="rId9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5071C4-43D4-93E3-2667-4C5144278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A29C8-CEA6-505F-7297-EFF90E55E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79FA-E1A2-E4C7-7453-045F9683D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FAD44-F6D0-4C7C-8206-F45DB611304A}" type="datetimeFigureOut">
              <a:rPr lang="en-US" smtClean="0"/>
              <a:t>08-Aug-25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5C5CA-D9C3-762C-FB09-6AC87DE29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71B91-F2F7-9976-9FF4-9141819CC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A734A-3B2A-47ED-9FBD-81CFB3E937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066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chart" Target="/ppt/slides/charts/chart1.xml" Id="rId2" /><Relationship Type="http://schemas.openxmlformats.org/officeDocument/2006/relationships/notesSlide" Target="/ppt/notesSlides/notesSlide1.xml" Id="rId3" /></Relationships>
</file>

<file path=ppt/slides/charts/chart1.xml><?xml version="1.0" encoding="utf-8"?>
<c:chartSpace xmlns:c="http://schemas.openxmlformats.org/drawingml/2006/chart">
  <c:lang val="en-US"/>
  <c:roundedCorners val="0"/>
  <c:chart>
    <c:autoTitleDeleted val="0"/>
    <c:plotArea>
      <c:layout/>
      <c:pieChart>
        <c:varyColors val="1"/>
        <c:ser>
          <c:idx val="0"/>
          <c:order val="0"/>
          <c:tx>
            <c:strRef>
              <c:f>Sheet1!$A$1</c:f>
              <c:strCache>
                <c:ptCount val="1"/>
                <c:pt idx="0">
                  <c:v>Series 1</c:v>
                </c:pt>
              </c:strCache>
            </c:strRef>
          </c:tx>
          <c:cat>
            <c:strLit>
              <c:ptCount val="3"/>
              <c:pt idx="0">
                <c:v>Business</c:v>
              </c:pt>
              <c:pt idx="1">
                <c:v>Creative</c:v>
              </c:pt>
              <c:pt idx="2">
                <c:v>Data</c:v>
              </c:pt>
            </c:strLit>
          </c:cat>
          <c:val>
            <c:numLit>
              <c:formatCode>General</c:formatCode>
              <c:ptCount val="3"/>
              <c:pt idx="0">
                <c:v>4</c:v>
              </c:pt>
              <c:pt idx="1">
                <c:v>3</c:v>
              </c:pt>
              <c:pt idx="2">
                <c:v>3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r"/>
    </c:legend>
  </c:chart>
</c:chartSpace>
</file>

<file path=ppt/slides/slide1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2032000"/>
            <a:ext cx="10972800" cy="1016000"/>
          </a:xfrm>
          <a:prstGeom prst="rect">
            <a:avLst/>
          </a:prstGeom>
        </p:spPr>
        <p:txBody>
          <a:bodyPr rtlCol="0" anchor="ctr"/>
          <a:lstStyle/>
          <a:p>
            <a:pPr algn="l"/>
            <a:r>
              <a:rPr lang="en-US" sz="4000" b="1" dirty="0">
                <a:solidFill>
                  <a:srgbClr val="1F4E79"/>
                </a:solidFill>
                <a:latin typeface="Calibri"/>
                <a:ea typeface="微软雅黑"/>
              </a:rPr>
              <a:t>PptxCore v2.0 — Layout System Demo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3048000"/>
            <a:ext cx="10972800" cy="508000"/>
          </a:xfrm>
          <a:prstGeom prst="rect">
            <a:avLst/>
          </a:prstGeom>
        </p:spPr>
        <p:txBody>
          <a:bodyPr rtlCol="0" anchor="ctr"/>
          <a:lstStyle/>
          <a:p>
            <a:pPr algn="l"/>
            <a:r>
              <a:rPr lang="en-US" sz="2000" dirty="0">
                <a:solidFill>
                  <a:srgbClr val="2E75B6"/>
                </a:solidFill>
                <a:latin typeface="Calibri"/>
                <a:ea typeface="微软雅黑"/>
              </a:rPr>
              <a:t>Gravity-field layouts + CJK fonts + Borders + Rotation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5588000"/>
            <a:ext cx="10972800" cy="381000"/>
          </a:xfrm>
          <a:prstGeom prst="rect">
            <a:avLst/>
          </a:prstGeom>
        </p:spPr>
        <p:txBody>
          <a:bodyPr rtlCol="0" anchor="ctr"/>
          <a:lstStyle/>
          <a:p>
            <a:pPr algn="l"/>
            <a:r>
              <a:rPr lang="en-US" sz="1400" dirty="0">
                <a:solidFill>
                  <a:srgbClr val="1A1A1A"/>
                </a:solidFill>
                <a:latin typeface="Calibri"/>
                <a:ea typeface="微软雅黑"/>
              </a:rPr>
              <a:t>angri450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09600" y="1270000"/>
            <a:ext cx="762000" cy="38100"/>
          </a:xfrm>
          <a:prstGeom prst="rect">
            <a:avLst/>
          </a:prstGeom>
          <a:solidFill>
            <a:srgbClr val="1F4E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2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508000"/>
            <a:ext cx="10972800" cy="762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800" b="1" dirty="0">
                <a:solidFill>
                  <a:srgbClr val="1F4E79"/>
                </a:solidFill>
                <a:latin typeface="Calibri"/>
                <a:ea typeface="微软雅黑"/>
              </a:rPr>
              <a:t>SingleFocus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2032000"/>
            <a:ext cx="10972800" cy="2540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4800" b="1" dirty="0">
                <a:solidFill>
                  <a:srgbClr val="1F4E79"/>
                </a:solidFill>
                <a:latin typeface="Calibri"/>
                <a:ea typeface="微软雅黑"/>
              </a:rPr>
              <a:t>120%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4876800"/>
            <a:ext cx="109728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000" b="0" dirty="0">
                <a:solidFill>
                  <a:srgbClr val="333333"/>
                </a:solidFill>
                <a:latin typeface="Calibri"/>
                <a:ea typeface="微软雅黑"/>
              </a:rPr>
              <a:t>Year-over-year growth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3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508000"/>
            <a:ext cx="10972800" cy="762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800" b="1" dirty="0">
                <a:solidFill>
                  <a:srgbClr val="1F4E79"/>
                </a:solidFill>
                <a:latin typeface="Calibri"/>
                <a:ea typeface="微软雅黑"/>
              </a:rPr>
              <a:t>Symmetric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1397000"/>
            <a:ext cx="52832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400" b="1" dirty="0">
                <a:solidFill>
                  <a:srgbClr val="1F4E79"/>
                </a:solidFill>
                <a:latin typeface="Calibri"/>
                <a:ea typeface="微软雅黑"/>
              </a:rPr>
              <a:t>Before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2032000"/>
            <a:ext cx="5283200" cy="4445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600" b="0" dirty="0">
                <a:solidFill>
                  <a:srgbClr val="1A1A1A"/>
                </a:solidFill>
                <a:latin typeface="Calibri"/>
                <a:ea typeface="微软雅黑"/>
              </a:rPr>
              <a:t>Manual process, 8 hours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299200" y="1397000"/>
            <a:ext cx="52832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400" b="1" dirty="0">
                <a:solidFill>
                  <a:srgbClr val="2E75B6"/>
                </a:solidFill>
                <a:latin typeface="Calibri"/>
                <a:ea typeface="微软雅黑"/>
              </a:rPr>
              <a:t>After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299200" y="2032000"/>
            <a:ext cx="5283200" cy="4445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600" b="0" dirty="0">
                <a:solidFill>
                  <a:srgbClr val="1A1A1A"/>
                </a:solidFill>
                <a:latin typeface="Calibri"/>
                <a:ea typeface="微软雅黑"/>
              </a:rPr>
              <a:t>Automated, 15 minutes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4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508000"/>
            <a:ext cx="10972800" cy="762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800" b="1" dirty="0">
                <a:solidFill>
                  <a:srgbClr val="1F4E79"/>
                </a:solidFill>
                <a:latin typeface="Calibri"/>
                <a:ea typeface="微软雅黑"/>
              </a:rPr>
              <a:t>Asymmetric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1397000"/>
            <a:ext cx="72390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800" b="1" dirty="0">
                <a:solidFill>
                  <a:srgbClr val="1F4E79"/>
                </a:solidFill>
                <a:latin typeface="Calibri"/>
                <a:ea typeface="微软雅黑"/>
              </a:rPr>
              <a:t>Core Finding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2032000"/>
            <a:ext cx="7239000" cy="4445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800" b="0" dirty="0">
                <a:solidFill>
                  <a:srgbClr val="1A1A1A"/>
                </a:solidFill>
                <a:latin typeface="Calibri"/>
                <a:ea typeface="微软雅黑"/>
              </a:rPr>
              <a:t>AI adoption +40% productivity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8153400" y="1397000"/>
            <a:ext cx="34290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000" b="1" dirty="0">
                <a:solidFill>
                  <a:srgbClr val="2E75B6"/>
                </a:solidFill>
                <a:latin typeface="Calibri"/>
                <a:ea typeface="微软雅黑"/>
              </a:rPr>
              <a:t>Methodology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8153400" y="2032000"/>
            <a:ext cx="3429000" cy="4445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400" b="0" dirty="0">
                <a:solidFill>
                  <a:srgbClr val="1A1A1A"/>
                </a:solidFill>
                <a:latin typeface="Calibri"/>
                <a:ea typeface="微软雅黑"/>
              </a:rPr>
              <a:t>500 companies, 2020-2024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5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508000"/>
            <a:ext cx="10972800" cy="762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800" b="1" dirty="0">
                <a:solidFill>
                  <a:srgbClr val="1F4E79"/>
                </a:solidFill>
                <a:latin typeface="Calibri"/>
                <a:ea typeface="微软雅黑"/>
              </a:rPr>
              <a:t>ThreeColumn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1397000"/>
            <a:ext cx="34544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200" b="1" dirty="0">
                <a:solidFill>
                  <a:srgbClr val="1F4E79"/>
                </a:solidFill>
                <a:latin typeface="Calibri"/>
                <a:ea typeface="微软雅黑"/>
              </a:rPr>
              <a:t>Speed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2032000"/>
            <a:ext cx="3454400" cy="4445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600" b="0" dirty="0">
                <a:solidFill>
                  <a:srgbClr val="1A1A1A"/>
                </a:solidFill>
                <a:latin typeface="Calibri"/>
                <a:ea typeface="微软雅黑"/>
              </a:rPr>
              <a:t>2x faster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4368800" y="1397000"/>
            <a:ext cx="34544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200" b="1" dirty="0">
                <a:solidFill>
                  <a:srgbClr val="2E75B6"/>
                </a:solidFill>
                <a:latin typeface="Calibri"/>
                <a:ea typeface="微软雅黑"/>
              </a:rPr>
              <a:t>Quality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4368800" y="2032000"/>
            <a:ext cx="3454400" cy="4445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600" b="0" dirty="0">
                <a:solidFill>
                  <a:srgbClr val="1A1A1A"/>
                </a:solidFill>
                <a:latin typeface="Calibri"/>
                <a:ea typeface="微软雅黑"/>
              </a:rPr>
              <a:t>95% accuracy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8128000" y="1397000"/>
            <a:ext cx="34544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200" b="1" dirty="0">
                <a:solidFill>
                  <a:srgbClr val="4A90D9"/>
                </a:solidFill>
                <a:latin typeface="Calibri"/>
                <a:ea typeface="微软雅黑"/>
              </a:rPr>
              <a:t>Cost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8128000" y="2032000"/>
            <a:ext cx="3454400" cy="4445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600" b="0" dirty="0">
                <a:solidFill>
                  <a:srgbClr val="1A1A1A"/>
                </a:solidFill>
                <a:latin typeface="Calibri"/>
                <a:ea typeface="微软雅黑"/>
              </a:rPr>
              <a:t>50% reduction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6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508000"/>
            <a:ext cx="10972800" cy="762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800" b="1" dirty="0">
                <a:solidFill>
                  <a:srgbClr val="1F4E79"/>
                </a:solidFill>
                <a:latin typeface="Calibri"/>
                <a:ea typeface="微软雅黑"/>
              </a:rPr>
              <a:t>PrimarySecondary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1397000"/>
            <a:ext cx="60325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800" b="1" dirty="0">
                <a:solidFill>
                  <a:srgbClr val="1F4E79"/>
                </a:solidFill>
                <a:latin typeface="Calibri"/>
                <a:ea typeface="微软雅黑"/>
              </a:rPr>
              <a:t>Key Insight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2032000"/>
            <a:ext cx="6032500" cy="4445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800" b="0" dirty="0">
                <a:solidFill>
                  <a:srgbClr val="1A1A1A"/>
                </a:solidFill>
                <a:latin typeface="Calibri"/>
                <a:ea typeface="微软雅黑"/>
              </a:rPr>
              <a:t>Strong AI-revenue correlation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946900" y="1397000"/>
            <a:ext cx="4635500" cy="381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800" b="1" dirty="0">
                <a:solidFill>
                  <a:srgbClr val="2E75B6"/>
                </a:solidFill>
                <a:latin typeface="Calibri"/>
                <a:ea typeface="微软雅黑"/>
              </a:rPr>
              <a:t>Sample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946900" y="1841500"/>
            <a:ext cx="4635500" cy="9017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400" b="0" dirty="0">
                <a:solidFill>
                  <a:srgbClr val="1A1A1A"/>
                </a:solidFill>
                <a:latin typeface="Calibri"/>
                <a:ea typeface="微软雅黑"/>
              </a:rPr>
              <a:t>500 companies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946900" y="3073400"/>
            <a:ext cx="4635500" cy="381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800" b="1" dirty="0">
                <a:solidFill>
                  <a:srgbClr val="2E75B6"/>
                </a:solidFill>
                <a:latin typeface="Calibri"/>
                <a:ea typeface="微软雅黑"/>
              </a:rPr>
              <a:t>Period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946900" y="3517900"/>
            <a:ext cx="4635500" cy="9017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400" b="0" dirty="0">
                <a:solidFill>
                  <a:srgbClr val="1A1A1A"/>
                </a:solidFill>
                <a:latin typeface="Calibri"/>
                <a:ea typeface="微软雅黑"/>
              </a:rPr>
              <a:t>2020-2024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8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946900" y="4749800"/>
            <a:ext cx="4635500" cy="381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800" b="1" dirty="0">
                <a:solidFill>
                  <a:srgbClr val="2E75B6"/>
                </a:solidFill>
                <a:latin typeface="Calibri"/>
                <a:ea typeface="微软雅黑"/>
              </a:rPr>
              <a:t>Confidence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9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946900" y="5194300"/>
            <a:ext cx="4635500" cy="9017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400" b="0" dirty="0">
                <a:solidFill>
                  <a:srgbClr val="1A1A1A"/>
                </a:solidFill>
                <a:latin typeface="Calibri"/>
                <a:ea typeface="微软雅黑"/>
              </a:rPr>
              <a:t>95%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7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Rounded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09600" y="508000"/>
            <a:ext cx="10972800" cy="2540000"/>
          </a:xfrm>
          <a:prstGeom prst="roundRect">
            <a:avLst/>
          </a:prstGeom>
          <a:solidFill>
            <a:srgbClr val="1F4E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990600" y="889000"/>
            <a:ext cx="10210800" cy="1016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3600" b="1" dirty="0">
                <a:solidFill>
                  <a:srgbClr val="FFFFFF"/>
                </a:solidFill>
                <a:latin typeface="Calibri"/>
                <a:ea typeface="微软雅黑"/>
              </a:rPr>
              <a:t>Q4 2024 Results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990600" y="2032000"/>
            <a:ext cx="10210800" cy="762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800" b="0" dirty="0">
                <a:solidFill>
                  <a:srgbClr val="FFFFFF"/>
                </a:solidFill>
                <a:latin typeface="Calibri"/>
                <a:ea typeface="微软雅黑"/>
              </a:rPr>
              <a:t>Record-breaking quarter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Rounded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09600" y="3352800"/>
            <a:ext cx="2590800" cy="203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812800" y="3733800"/>
            <a:ext cx="2184400" cy="762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1F4E79"/>
                </a:solidFill>
                <a:latin typeface="Calibri"/>
                <a:ea typeface="微软雅黑"/>
              </a:rPr>
              <a:t>$120M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812800" y="4622800"/>
            <a:ext cx="21844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400" b="0" dirty="0">
                <a:solidFill>
                  <a:srgbClr val="333333"/>
                </a:solidFill>
                <a:latin typeface="Calibri"/>
                <a:ea typeface="微软雅黑"/>
              </a:rPr>
              <a:t>Revenue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Rounded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3403600" y="3352800"/>
            <a:ext cx="2590800" cy="203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8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3606800" y="3733800"/>
            <a:ext cx="2184400" cy="762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1F4E79"/>
                </a:solidFill>
                <a:latin typeface="Calibri"/>
                <a:ea typeface="微软雅黑"/>
              </a:rPr>
              <a:t>2.5M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9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3606800" y="4622800"/>
            <a:ext cx="21844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400" b="0" dirty="0">
                <a:solidFill>
                  <a:srgbClr val="333333"/>
                </a:solidFill>
                <a:latin typeface="Calibri"/>
                <a:ea typeface="微软雅黑"/>
              </a:rPr>
              <a:t>Users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" name="Rounded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197600" y="3352800"/>
            <a:ext cx="2590800" cy="203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1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400800" y="3733800"/>
            <a:ext cx="2184400" cy="762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1F4E79"/>
                </a:solidFill>
                <a:latin typeface="Calibri"/>
                <a:ea typeface="微软雅黑"/>
              </a:rPr>
              <a:t>72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2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400800" y="4622800"/>
            <a:ext cx="21844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400" b="0" dirty="0">
                <a:solidFill>
                  <a:srgbClr val="333333"/>
                </a:solidFill>
                <a:latin typeface="Calibri"/>
                <a:ea typeface="微软雅黑"/>
              </a:rPr>
              <a:t>NPS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3" name="Rounded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8991600" y="3352800"/>
            <a:ext cx="2590800" cy="203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4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9194800" y="3733800"/>
            <a:ext cx="2184400" cy="762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1F4E79"/>
                </a:solidFill>
                <a:latin typeface="Calibri"/>
                <a:ea typeface="微软雅黑"/>
              </a:rPr>
              <a:t>94%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5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9194800" y="4622800"/>
            <a:ext cx="21844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400" b="0" dirty="0">
                <a:solidFill>
                  <a:srgbClr val="333333"/>
                </a:solidFill>
                <a:latin typeface="Calibri"/>
                <a:ea typeface="微软雅黑"/>
              </a:rPr>
              <a:t>Retention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8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508000"/>
            <a:ext cx="10972800" cy="635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1A1A1A"/>
                </a:solidFill>
                <a:latin typeface="Calibri"/>
                <a:ea typeface="微软雅黑"/>
              </a:rPr>
              <a:t>Card Layouts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Rounded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609600" y="1397000"/>
            <a:ext cx="3517900" cy="3048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812800" y="1600200"/>
            <a:ext cx="31115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000" b="1" dirty="0">
                <a:solidFill>
                  <a:srgbClr val="1A1A1A"/>
                </a:solidFill>
                <a:latin typeface="Calibri"/>
                <a:ea typeface="微软雅黑"/>
              </a:rPr>
              <a:t>Revenue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812800" y="2108200"/>
            <a:ext cx="3111500" cy="2286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400" b="0" dirty="0">
                <a:solidFill>
                  <a:srgbClr val="1A1A1A"/>
                </a:solidFill>
                <a:latin typeface="Calibri"/>
                <a:ea typeface="微软雅黑"/>
              </a:rPr>
              <a:t>$120M, +30% YoY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5" name="Rounded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4330700" y="1397000"/>
            <a:ext cx="3517900" cy="3048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6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4533900" y="1600200"/>
            <a:ext cx="31115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000" b="1" dirty="0">
                <a:solidFill>
                  <a:srgbClr val="1A1A1A"/>
                </a:solidFill>
                <a:latin typeface="Calibri"/>
                <a:ea typeface="微软雅黑"/>
              </a:rPr>
              <a:t>Users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7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4533900" y="2108200"/>
            <a:ext cx="3111500" cy="2286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400" b="0" dirty="0">
                <a:solidFill>
                  <a:srgbClr val="1A1A1A"/>
                </a:solidFill>
                <a:latin typeface="Calibri"/>
                <a:ea typeface="微软雅黑"/>
              </a:rPr>
              <a:t>2.5M active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8" name="RoundedRect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>
            <a:off x="8051800" y="1397000"/>
            <a:ext cx="3517900" cy="3048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9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8255000" y="1600200"/>
            <a:ext cx="31115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000" b="1" dirty="0">
                <a:solidFill>
                  <a:srgbClr val="1A1A1A"/>
                </a:solidFill>
                <a:latin typeface="Calibri"/>
                <a:ea typeface="微软雅黑"/>
              </a:rPr>
              <a:t>Retention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10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8255000" y="2108200"/>
            <a:ext cx="3111500" cy="2286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400" b="0" dirty="0">
                <a:solidFill>
                  <a:srgbClr val="1A1A1A"/>
                </a:solidFill>
                <a:latin typeface="Calibri"/>
                <a:ea typeface="微软雅黑"/>
              </a:rPr>
              <a:t>94%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9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2032000"/>
            <a:ext cx="10972800" cy="1524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7200" b="1" dirty="0">
                <a:solidFill>
                  <a:srgbClr val="1F4E79"/>
                </a:solidFill>
                <a:latin typeface="Calibri"/>
                <a:ea typeface="微软雅黑"/>
              </a:rPr>
              <a:t>120%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3683000"/>
            <a:ext cx="109728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400" b="0" dirty="0">
                <a:solidFill>
                  <a:srgbClr val="2E75B6"/>
                </a:solidFill>
                <a:latin typeface="Calibri"/>
                <a:ea typeface="微软雅黑"/>
              </a:rPr>
              <a:t>growth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4572000"/>
            <a:ext cx="10972800" cy="1016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000" b="0" dirty="0">
                <a:solidFill>
                  <a:srgbClr val="1A1A1A"/>
                </a:solidFill>
                <a:latin typeface="Calibri"/>
                <a:ea typeface="微软雅黑"/>
              </a:rPr>
              <a:t>Year-over-year growth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10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Triangle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/>
          <p:nvPr/>
        </p:nvSpPr>
        <p:spPr>
          <a:xfrm rot="-600000">
            <a:off x="508000" y="3302000"/>
            <a:ext cx="381000" cy="381000"/>
          </a:xfrm>
          <a:prstGeom prst="triangle">
            <a:avLst/>
          </a:prstGeom>
          <a:solidFill>
            <a:srgbClr val="1F4E7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2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2032000"/>
            <a:ext cx="1016000" cy="1016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9600" b="0" dirty="0">
                <a:solidFill>
                  <a:srgbClr val="1F4E79"/>
                </a:solidFill>
                <a:latin typeface="Calibri"/>
                <a:ea typeface="微软雅黑"/>
              </a:rPr>
              <a:t>"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3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3048000"/>
            <a:ext cx="10972800" cy="2540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2400" b="0" dirty="0">
                <a:solidFill>
                  <a:srgbClr val="1A1A1A"/>
                </a:solidFill>
                <a:latin typeface="Calibri"/>
                <a:ea typeface="微软雅黑"/>
              </a:rPr>
              <a:t>The future belongs to those who prepare for it today.</a:t>
            </a:r>
            <a:endParaRPr lang="en-US"/>
          </a:p>
        </p:txBody>
      </p:sp>
      <p:sp xmlns:a="http://schemas.openxmlformats.org/drawingml/2006/main" xmlns:p="http://schemas.openxmlformats.org/presentationml/2006/main">
        <p:nvSpPr>
          <p:cNvPr id="4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5842000"/>
            <a:ext cx="10972800" cy="508000"/>
          </a:xfrm>
          <a:prstGeom prst="rect">
            <a:avLst/>
          </a:prstGeom>
        </p:spPr>
        <p:txBody>
          <a:bodyPr lIns="101600" tIns="50800" rIns="101600" bIns="50800" rtlCol="0" anchor="ctr"/>
          <a:lstStyle/>
          <a:p>
            <a:pPr algn="l">
              <a:spcBef>
                <a:spcPts val="400"/>
              </a:spcBef>
              <a:spcAft>
                <a:spcPts val="400"/>
              </a:spcAft>
            </a:pPr>
            <a:r>
              <a:rPr lang="en-US" sz="1800" b="0" dirty="0">
                <a:solidFill>
                  <a:srgbClr val="2E75B6"/>
                </a:solidFill>
                <a:latin typeface="Calibri"/>
                <a:ea typeface="微软雅黑"/>
              </a:rPr>
              <a:t>- Malcolm X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11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508000"/>
            <a:ext cx="10972800" cy="762000"/>
          </a:xfrm>
          <a:prstGeom prst="rect">
            <a:avLst/>
          </a:prstGeom>
        </p:spPr>
        <p:txBody>
          <a:bodyPr rtlCol="0" anchor="ctr"/>
          <a:lstStyle/>
          <a:p>
            <a:pPr algn="l"/>
            <a:r>
              <a:rPr lang="en-US" sz="3200" b="1" dirty="0">
                <a:solidFill>
                  <a:srgbClr val="1F4E79"/>
                </a:solidFill>
                <a:latin typeface="Calibri"/>
                <a:ea typeface="微软雅黑"/>
              </a:rPr>
              <a:t>10 Themes</a:t>
            </a:r>
            <a:endParaRPr lang="en-US"/>
          </a:p>
        </p:txBody>
      </p:sp>
      <p:graphicFrame>
        <p:nvGraphicFramePr>
          <p:cNvPr id="2" name="Table 1"/>
          <p:cNvGraphicFramePr/>
          <p:nvPr/>
        </p:nvGraphicFramePr>
        <p:xfrm>
          <a:off xmlns:a="http://schemas.openxmlformats.org/drawingml/2006/main" x="609600" y="1397000"/>
          <a:ext xmlns:a="http://schemas.openxmlformats.org/drawingml/2006/main" cx="8128000" cy="14833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/>
                <a:gridCol w="2709333"/>
                <a:gridCol w="2709333"/>
              </a:tblGrid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Theme</a:t>
                      </a:r>
                      <a:endParaRPr lang="en-US"/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Accent</a:t>
                      </a:r>
                      <a:endParaRPr lang="en-US"/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/>
                          <a:ea typeface="微软雅黑"/>
                        </a:rPr>
                        <a:t>Use Case</a:t>
                      </a:r>
                      <a:endParaRPr lang="en-US"/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>
                          <a:ea typeface="微软雅黑"/>
                        </a:rPr>
                        <a:t>Professional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>
                          <a:ea typeface="微软雅黑"/>
                        </a:rPr>
                        <a:t>#1F4E79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>
                          <a:ea typeface="微软雅黑"/>
                        </a:rPr>
                        <a:t>Business</a:t>
                      </a:r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>
                          <a:ea typeface="微软雅黑"/>
                        </a:rPr>
                        <a:t>Coral Energy</a:t>
                      </a:r>
                      <a:endParaRPr lang="en-US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>
                          <a:ea typeface="微软雅黑"/>
                        </a:rPr>
                        <a:t>#F96167</a:t>
                      </a:r>
                      <a:endParaRPr lang="en-US"/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>
                          <a:ea typeface="微软雅黑"/>
                        </a:rPr>
                        <a:t>Startup</a:t>
                      </a:r>
                      <a:endParaRPr lang="en-US"/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/>
                      <a:r>
                        <a:rPr lang="en-US" sz="1400" dirty="0">
                          <a:ea typeface="微软雅黑"/>
                        </a:rPr>
                        <a:t>Teal Trust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>
                          <a:ea typeface="微软雅黑"/>
                        </a:rPr>
                        <a:t>#028090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en-US" sz="1400" dirty="0">
                          <a:ea typeface="微软雅黑"/>
                        </a:rPr>
                        <a:t>Medical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 xmlns:a="http://schemas.openxmlformats.org/drawingml/2006/main" xmlns:p="http://schemas.openxmlformats.org/presentationml/2006/main">
        <p:nvSpPr>
          <p:cNvPr id="3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10947400" y="6096000"/>
            <a:ext cx="635000" cy="254000"/>
          </a:xfrm>
          <a:prstGeom prst="rect">
            <a:avLst/>
          </a:prstGeom>
        </p:spPr>
        <p:txBody>
          <a:bodyPr rtlCol="0" anchor="ctr"/>
          <a:lstStyle/>
          <a:p>
            <a:pPr algn="l"/>
            <a:r>
              <a:rPr lang="en-US" sz="1200" dirty="0">
                <a:solidFill>
                  <a:srgbClr val="999999"/>
                </a:solidFill>
                <a:latin typeface="Calibri"/>
                <a:ea typeface="微软雅黑"/>
              </a:rPr>
              <a:t>11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slides/slide12.xml><?xml version="1.0" encoding="utf-8"?>
<p:sld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 xmlns:a="http://schemas.openxmlformats.org/drawingml/2006/main" xmlns:p="http://schemas.openxmlformats.org/presentationml/2006/main">
        <p:nvSpPr>
          <p:cNvPr id="1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609600" y="508000"/>
            <a:ext cx="10972800" cy="762000"/>
          </a:xfrm>
          <a:prstGeom prst="rect">
            <a:avLst/>
          </a:prstGeom>
        </p:spPr>
        <p:txBody>
          <a:bodyPr rtlCol="0" anchor="ctr"/>
          <a:lstStyle/>
          <a:p>
            <a:pPr algn="l"/>
            <a:r>
              <a:rPr lang="en-US" sz="3200" b="1" dirty="0">
                <a:solidFill>
                  <a:srgbClr val="1F4E79"/>
                </a:solidFill>
                <a:latin typeface="Calibri"/>
                <a:ea typeface="微软雅黑"/>
              </a:rPr>
              <a:t>Theme Distribution</a:t>
            </a:r>
            <a:endParaRPr lang="en-US"/>
          </a:p>
        </p:txBody>
      </p:sp>
      <p:graphicFrame>
        <p:nvGraphicFramePr>
          <p:cNvPr id="2" name="Pie Chart"/>
          <p:cNvGraphicFramePr/>
          <p:nvPr/>
        </p:nvGraphicFramePr>
        <p:xfrm>
          <a:off xmlns:a="http://schemas.openxmlformats.org/drawingml/2006/main" x="609600" y="1397000"/>
          <a:ext xmlns:a="http://schemas.openxmlformats.org/drawingml/2006/main" cx="10972800" cy="4826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Id2"/>
          </a:graphicData>
        </a:graphic>
      </p:graphicFrame>
      <p:sp xmlns:a="http://schemas.openxmlformats.org/drawingml/2006/main" xmlns:p="http://schemas.openxmlformats.org/presentationml/2006/main">
        <p:nvSpPr>
          <p:cNvPr id="3" name="Text Box">
            <a:extLst>
              <a:ext uri="{FF2B5EF4-FFF2-40B4-BE49-F238E27FC236}">
                <a16:creationId xmlns:a16="http://schemas.microsoft.com/office/drawing/2014/main" id="{A0C957D4-E4F1-4D51-EC0C-C161461E948E}"/>
              </a:ext>
            </a:extLst>
          </p:cNvPr>
          <p:cNvSpPr txBox="1"/>
          <p:nvPr/>
        </p:nvSpPr>
        <p:spPr>
          <a:xfrm>
            <a:off x="10947400" y="6096000"/>
            <a:ext cx="635000" cy="254000"/>
          </a:xfrm>
          <a:prstGeom prst="rect">
            <a:avLst/>
          </a:prstGeom>
        </p:spPr>
        <p:txBody>
          <a:bodyPr rtlCol="0" anchor="ctr"/>
          <a:lstStyle/>
          <a:p>
            <a:pPr algn="l"/>
            <a:r>
              <a:rPr lang="en-US" sz="1200" dirty="0">
                <a:solidFill>
                  <a:srgbClr val="999999"/>
                </a:solidFill>
                <a:latin typeface="Calibri"/>
                <a:ea typeface="微软雅黑"/>
              </a:rPr>
              <a:t>12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81384"/>
      </p:ext>
    </p:extLst>
  </p:cSld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333333"/>
      </a:dk2>
      <a:lt2>
        <a:srgbClr val="F5F5F5"/>
      </a:lt2>
      <a:accent1>
        <a:srgbClr val="1F4E79"/>
      </a:accent1>
      <a:accent2>
        <a:srgbClr val="2E75B6"/>
      </a:accent2>
      <a:accent3>
        <a:srgbClr val="4A90D9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TotalTime>0</ap:TotalTime>
  <ap:Words>0</ap:Words>
  <ap:Application>Microsoft Office PowerPoint</ap:Application>
  <ap:PresentationFormat>Widescreen</ap:PresentationFormat>
  <ap:Paragraphs>0</ap:Paragraphs>
  <ap:Slides>0</ap:Slides>
  <ap:Notes>0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ap:HeadingPairs>
  <ap:TitlesOfParts>
    <vt:vector baseType="lpstr" size="4">
      <vt:lpstr>Arial</vt:lpstr>
      <vt:lpstr>Calibri</vt:lpstr>
      <vt:lpstr>Calibri Light</vt:lpstr>
      <vt:lpstr>Office Theme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PowerPoint Presentation</dc:title>
  <dc:creator/>
  <lastModifiedBy>Adam Shakhabov</lastModifiedBy>
  <revision>2</revision>
  <dcterms:created xsi:type="dcterms:W3CDTF">2023-07-09T20:28:40.0000000Z</dcterms:created>
  <dcterms:modified xsi:type="dcterms:W3CDTF">2026-05-30T11:20:39.4889166Z</dcterms:modified>
</coreProperties>
</file>